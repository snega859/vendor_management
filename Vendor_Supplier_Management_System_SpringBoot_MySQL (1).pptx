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E316549-470E-4E6B-E27E-76C930996071}">
          <p14:sldIdLst>
            <p14:sldId id="256"/>
            <p14:sldId id="257"/>
            <p14:sldId id="258"/>
          </p14:sldIdLst>
        </p14:section>
        <p14:section name="Build" id="{578D4464-5866-0808-B66F-B0C69454F43C}">
          <p14:sldIdLst>
            <p14:sldId id="259"/>
            <p14:sldId id="260"/>
            <p14:sldId id="261"/>
            <p14:sldId id="262"/>
          </p14:sldIdLst>
        </p14:section>
        <p14:section name="Screens" id="{FC367EFC-C7D0-5EE7-BC86-B91D8A221A75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Wrap-up" id="{D60D42A8-F61F-A6C0-5654-42A25CC8613B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3C04C-375D-4413-A291-A5C583B7AF08}" v="92" dt="2026-10-07T05:10:55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0FDE32-854B-4476-BDF2-2057ABCBB941}" type="datetimeFigureOut"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8A9285-3EC9-442C-98AD-AA9EABF9675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983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Vendor &amp; Supplier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Vendor &amp; Supplier Management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9.png"/><Relationship Id="rId5" Type="http://schemas.openxmlformats.org/officeDocument/2006/relationships/image" Target="../media/image1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 circle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Accent circle"/>
          <p:cNvSpPr/>
          <p:nvPr/>
        </p:nvSpPr>
        <p:spPr>
          <a:xfrm>
            <a:off x="7589520" y="2377440"/>
            <a:ext cx="2377440" cy="2377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1201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8288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&amp; Supplier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System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Project Presentation — React.js, Spring Boot &amp; MySQL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297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Student Name  |  Class / Roll No.  |  Date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Full-stack web app: React.js frontend with a Java Spring Boot backend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Secure login with Admin and User roles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Manages vendors, suppliers, products, requests, quotations and orders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data stored in a MySQL database through REST APIs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120640" y="1280160"/>
            <a:ext cx="34747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Icon circle"/>
          <p:cNvSpPr/>
          <p:nvPr/>
        </p:nvSpPr>
        <p:spPr>
          <a:xfrm>
            <a:off x="53035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0" y="1389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Vendors &amp; Suppliers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17007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Maintain partner records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120640" y="2286000"/>
            <a:ext cx="34747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5303520" y="2423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25603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035040" y="23957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Products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2706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Catalog and pricing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120640" y="3291840"/>
            <a:ext cx="347472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Icon circle"/>
          <p:cNvSpPr/>
          <p:nvPr/>
        </p:nvSpPr>
        <p:spPr>
          <a:xfrm>
            <a:off x="530352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35661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035040" y="34015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Request to Order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035040" y="37124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Requests, quotations, orders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Number badge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responsive React.js frontend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32918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Number badge"/>
          <p:cNvSpPr/>
          <p:nvPr/>
        </p:nvSpPr>
        <p:spPr>
          <a:xfrm>
            <a:off x="34747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REST APIs with Java Spring Boot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035040" y="128016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Number badge"/>
          <p:cNvSpPr/>
          <p:nvPr/>
        </p:nvSpPr>
        <p:spPr>
          <a:xfrm>
            <a:off x="6217920" y="1463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Store and manage data in a MySQL database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Number badge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Secure access with login and role-based control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329184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Number badge"/>
          <p:cNvSpPr/>
          <p:nvPr/>
        </p:nvSpPr>
        <p:spPr>
          <a:xfrm>
            <a:off x="34747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Handle CRUD with Axios and React Router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603504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Number badge"/>
          <p:cNvSpPr/>
          <p:nvPr/>
        </p:nvSpPr>
        <p:spPr>
          <a:xfrm>
            <a:off x="621792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11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Manage the flow: request, quotation, purchase order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</a:rPr>
              <a:t>Technologies Used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React.js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Frontend UI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14600" y="137160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Vite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Build tool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480560" y="137160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React Router DOM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Page navigation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446520" y="137160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8368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Axios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API requests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48640" y="29260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Java Spring Boot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REST backend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2514600" y="29260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65176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MySQL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Relational database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4480560" y="29260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61772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Spring Data JPA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61772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Database access (ORM)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6446520" y="2926080"/>
            <a:ext cx="1828800" cy="1325880"/>
          </a:xfrm>
          <a:prstGeom prst="roundRect">
            <a:avLst>
              <a:gd name="adj" fmla="val 827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583680" y="3200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Spring Security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37490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Login, JWT and roles</a:t>
            </a:r>
            <a:endParaRPr lang="en-US" sz="12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Modules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 circle"/>
          <p:cNvSpPr/>
          <p:nvPr/>
        </p:nvSpPr>
        <p:spPr>
          <a:xfrm>
            <a:off x="6858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Login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Secure JWT sign-in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329184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 circle"/>
          <p:cNvSpPr/>
          <p:nvPr/>
        </p:nvSpPr>
        <p:spPr>
          <a:xfrm>
            <a:off x="34290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Dashboards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Admin and user views</a:t>
            </a:r>
            <a:endParaRPr lang="en-US" sz="1100" dirty="0"/>
          </a:p>
        </p:txBody>
      </p:sp>
      <p:sp>
        <p:nvSpPr>
          <p:cNvPr id="13" name="Card"/>
          <p:cNvSpPr/>
          <p:nvPr/>
        </p:nvSpPr>
        <p:spPr>
          <a:xfrm>
            <a:off x="6035040" y="1188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17220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Vendors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8580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Manage vendor records</a:t>
            </a:r>
            <a:endParaRPr lang="en-US" sz="1100" dirty="0"/>
          </a:p>
        </p:txBody>
      </p:sp>
      <p:sp>
        <p:nvSpPr>
          <p:cNvPr id="18" name="Card"/>
          <p:cNvSpPr/>
          <p:nvPr/>
        </p:nvSpPr>
        <p:spPr>
          <a:xfrm>
            <a:off x="54864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Icon circle"/>
          <p:cNvSpPr/>
          <p:nvPr/>
        </p:nvSpPr>
        <p:spPr>
          <a:xfrm>
            <a:off x="68580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697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Suppliers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Manage supplier details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329184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Icon circle"/>
          <p:cNvSpPr/>
          <p:nvPr/>
        </p:nvSpPr>
        <p:spPr>
          <a:xfrm>
            <a:off x="342900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2697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148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1148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Catalog and pricing</a:t>
            </a:r>
            <a:endParaRPr lang="en-US" sz="1100" dirty="0"/>
          </a:p>
        </p:txBody>
      </p:sp>
      <p:sp>
        <p:nvSpPr>
          <p:cNvPr id="28" name="Card"/>
          <p:cNvSpPr/>
          <p:nvPr/>
        </p:nvSpPr>
        <p:spPr>
          <a:xfrm>
            <a:off x="6035040" y="2331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Icon circle"/>
          <p:cNvSpPr/>
          <p:nvPr/>
        </p:nvSpPr>
        <p:spPr>
          <a:xfrm>
            <a:off x="6172200" y="2560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69748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 Requests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Raise item requests</a:t>
            </a:r>
            <a:endParaRPr lang="en-US" sz="1100" dirty="0"/>
          </a:p>
        </p:txBody>
      </p:sp>
      <p:sp>
        <p:nvSpPr>
          <p:cNvPr id="33" name="Card"/>
          <p:cNvSpPr/>
          <p:nvPr/>
        </p:nvSpPr>
        <p:spPr>
          <a:xfrm>
            <a:off x="548640" y="3474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Icon circle"/>
          <p:cNvSpPr/>
          <p:nvPr/>
        </p:nvSpPr>
        <p:spPr>
          <a:xfrm>
            <a:off x="68580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con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384048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716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Quotations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37160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Compare supplier quotes</a:t>
            </a:r>
            <a:endParaRPr lang="en-US" sz="1100" dirty="0"/>
          </a:p>
        </p:txBody>
      </p:sp>
      <p:sp>
        <p:nvSpPr>
          <p:cNvPr id="38" name="Card"/>
          <p:cNvSpPr/>
          <p:nvPr/>
        </p:nvSpPr>
        <p:spPr>
          <a:xfrm>
            <a:off x="3291840" y="3474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Icon circle"/>
          <p:cNvSpPr/>
          <p:nvPr/>
        </p:nvSpPr>
        <p:spPr>
          <a:xfrm>
            <a:off x="342900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con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6160" y="384048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1148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 Orders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411480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Create and track orders</a:t>
            </a:r>
            <a:endParaRPr lang="en-US" sz="1100" dirty="0"/>
          </a:p>
        </p:txBody>
      </p:sp>
      <p:sp>
        <p:nvSpPr>
          <p:cNvPr id="43" name="Card"/>
          <p:cNvSpPr/>
          <p:nvPr/>
        </p:nvSpPr>
        <p:spPr>
          <a:xfrm>
            <a:off x="6035040" y="347472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Icon circle"/>
          <p:cNvSpPr/>
          <p:nvPr/>
        </p:nvSpPr>
        <p:spPr>
          <a:xfrm>
            <a:off x="6172200" y="3703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Icon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840480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858000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Reports</a:t>
            </a:r>
            <a:endParaRPr lang="en-US" sz="1400" dirty="0"/>
          </a:p>
        </p:txBody>
      </p:sp>
      <p:sp>
        <p:nvSpPr>
          <p:cNvPr id="47" name="Text 36"/>
          <p:cNvSpPr txBox="1"/>
          <p:nvPr/>
        </p:nvSpPr>
        <p:spPr>
          <a:xfrm>
            <a:off x="685800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Orders and spending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Application Flow</a:t>
            </a:r>
            <a:endParaRPr lang="en-US" sz="3000" dirty="0"/>
          </a:p>
        </p:txBody>
      </p:sp>
      <p:sp>
        <p:nvSpPr>
          <p:cNvPr id="3" name="Flow step"/>
          <p:cNvSpPr/>
          <p:nvPr/>
        </p:nvSpPr>
        <p:spPr>
          <a:xfrm>
            <a:off x="54864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1325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User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Flow step"/>
          <p:cNvSpPr/>
          <p:nvPr/>
        </p:nvSpPr>
        <p:spPr>
          <a:xfrm>
            <a:off x="219456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194560" y="1828800"/>
            <a:ext cx="1325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React UI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Flow step"/>
          <p:cNvSpPr/>
          <p:nvPr/>
        </p:nvSpPr>
        <p:spPr>
          <a:xfrm>
            <a:off x="384048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40480" y="1828800"/>
            <a:ext cx="1325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Axios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Flow step"/>
          <p:cNvSpPr/>
          <p:nvPr/>
        </p:nvSpPr>
        <p:spPr>
          <a:xfrm>
            <a:off x="548640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486400" y="1828800"/>
            <a:ext cx="1325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Spring Boot REST API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05740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Flow step"/>
          <p:cNvSpPr/>
          <p:nvPr/>
        </p:nvSpPr>
        <p:spPr>
          <a:xfrm>
            <a:off x="7132320" y="1828800"/>
            <a:ext cx="13258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32320" y="1828800"/>
            <a:ext cx="13258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MySQL Database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Requests go from the React UI through Axios to Spring Boot controllers, which use JPA to read and write the MySQL database.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Structure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188720"/>
            <a:ext cx="393192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frontend/ (React + Vite)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components/  </a:t>
            </a:r>
            <a:r>
              <a:rPr lang="en-US" sz="1300" dirty="0">
                <a:solidFill>
                  <a:schemeClr val="tx1"/>
                </a:solidFill>
              </a:rPr>
              <a:t>Navbar, Sidebar, ProtectedRoute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pages/  </a:t>
            </a:r>
            <a:r>
              <a:rPr lang="en-US" sz="1300" dirty="0">
                <a:solidFill>
                  <a:schemeClr val="tx1"/>
                </a:solidFill>
              </a:rPr>
              <a:t>Login, Admin &amp; User Dashboard, Vendors, Suppliers, Products, Purchase Requests, Quotations, Purchase Orders, Reports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services/  </a:t>
            </a:r>
            <a:r>
              <a:rPr lang="en-US" sz="1300" dirty="0">
                <a:solidFill>
                  <a:schemeClr val="tx1"/>
                </a:solidFill>
              </a:rPr>
              <a:t>auth, vendor, supplier, product, purchase, quotation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App, main  </a:t>
            </a:r>
            <a:r>
              <a:rPr lang="en-US" sz="1300" dirty="0">
                <a:solidFill>
                  <a:schemeClr val="tx1"/>
                </a:solidFill>
              </a:rPr>
              <a:t>entry point and routing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4663440" y="1188720"/>
            <a:ext cx="393192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0" y="13258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backend/ (Spring Boot + MySQL)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controller/  </a:t>
            </a:r>
            <a:r>
              <a:rPr lang="en-US" sz="1300" dirty="0">
                <a:solidFill>
                  <a:schemeClr val="tx1"/>
                </a:solidFill>
              </a:rPr>
              <a:t>auth, user, vendor, supplier, product, purchase, quotation, order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model/  </a:t>
            </a:r>
            <a:r>
              <a:rPr lang="en-US" sz="1300" dirty="0">
                <a:solidFill>
                  <a:schemeClr val="tx1"/>
                </a:solidFill>
              </a:rPr>
              <a:t>User, Vendor, Supplier, Product, PurchaseRequest, Quotation, PurchaseOrder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repository/  </a:t>
            </a:r>
            <a:r>
              <a:rPr lang="en-US" sz="1300" dirty="0">
                <a:solidFill>
                  <a:schemeClr val="tx1"/>
                </a:solidFill>
              </a:rPr>
              <a:t>JPA repositories for MySQL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security/  </a:t>
            </a:r>
            <a:r>
              <a:rPr lang="en-US" sz="1300" dirty="0">
                <a:solidFill>
                  <a:schemeClr val="tx1"/>
                </a:solidFill>
              </a:rPr>
              <a:t>JWT filter and role checks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config/  </a:t>
            </a:r>
            <a:r>
              <a:rPr lang="en-US" sz="1300" dirty="0">
                <a:solidFill>
                  <a:schemeClr val="tx1"/>
                </a:solidFill>
              </a:rPr>
              <a:t>application.properties (database)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29355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Login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1097280" y="1188720"/>
            <a:ext cx="5176" cy="261812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Login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AAAF3F-4BB8-7556-36FE-62C2FADF4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"/>
          <a:stretch>
            <a:fillRect/>
          </a:stretch>
        </p:blipFill>
        <p:spPr>
          <a:xfrm>
            <a:off x="926622" y="819509"/>
            <a:ext cx="6406528" cy="39250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-3450"/>
            <a:ext cx="4175617" cy="81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Admin Dashboard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 flipH="1">
            <a:off x="1037758" y="1188720"/>
            <a:ext cx="124220" cy="8928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Admin Dashboard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614C63-2913-CFA8-59FC-C10257728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" y="703794"/>
            <a:ext cx="7947086" cy="37466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5754" y="320040"/>
            <a:ext cx="44775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 Dashboard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1097280" y="3852125"/>
            <a:ext cx="5176" cy="628435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User Dashboard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4ED775-E5ED-6A65-6AD2-D6B1EBD2EF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56" b="-243"/>
          <a:stretch>
            <a:fillRect/>
          </a:stretch>
        </p:blipFill>
        <p:spPr>
          <a:xfrm>
            <a:off x="548946" y="951511"/>
            <a:ext cx="7862798" cy="3801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-3450"/>
            <a:ext cx="2935569" cy="58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Vendors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 flipH="1" flipV="1">
            <a:off x="1037758" y="4480560"/>
            <a:ext cx="124220" cy="10481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90E5A2-4ECA-24EA-CA84-9C03D8605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" y="657901"/>
            <a:ext cx="8044134" cy="36983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-3450"/>
            <a:ext cx="2622862" cy="76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Suppliers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1097280" y="1188720"/>
            <a:ext cx="5176" cy="8928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Suppliers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C93AF-B473-D0A8-DB44-F5ECD749A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73" y="765594"/>
            <a:ext cx="8528255" cy="41191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-3450"/>
            <a:ext cx="2806173" cy="650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Products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>
            <a:off x="7092638" y="3140446"/>
            <a:ext cx="954082" cy="1340114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Products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0E71A6-03D5-529C-1264-C09C028F2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33" y="831101"/>
            <a:ext cx="8044134" cy="40527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-3450"/>
            <a:ext cx="4455975" cy="715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/>
              <a:t>Purchase Requests Page</a:t>
            </a:r>
            <a:endParaRPr lang="en-US" sz="3000"/>
          </a:p>
        </p:txBody>
      </p:sp>
      <p:sp>
        <p:nvSpPr>
          <p:cNvPr id="3" name="Screenshot frame"/>
          <p:cNvSpPr/>
          <p:nvPr/>
        </p:nvSpPr>
        <p:spPr>
          <a:xfrm flipH="1">
            <a:off x="7367390" y="4402059"/>
            <a:ext cx="59522" cy="78501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Purchase Requests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834F50-D83B-7B00-31A7-0ABB2C413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7687"/>
            <a:ext cx="9144000" cy="40114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-1293" y="-3450"/>
            <a:ext cx="2881654" cy="68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Quotations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 flipH="1" flipV="1">
            <a:off x="8046720" y="4491343"/>
            <a:ext cx="458493" cy="385169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Quotations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53624D-055D-7BAE-2F17-6ACC1E33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0408"/>
            <a:ext cx="9144000" cy="37847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5163"/>
            <a:ext cx="4229532" cy="693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Purchase Orders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 flipH="1" flipV="1">
            <a:off x="8100635" y="4480560"/>
            <a:ext cx="253616" cy="751792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Purchase Orders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50A7CE-D361-98BE-122D-E787DB32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082" y="960138"/>
            <a:ext cx="7255893" cy="406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49669" y="-100497"/>
            <a:ext cx="2838522" cy="82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Reports Page</a:t>
            </a:r>
            <a:endParaRPr lang="en-US" sz="3000" dirty="0"/>
          </a:p>
        </p:txBody>
      </p:sp>
      <p:sp>
        <p:nvSpPr>
          <p:cNvPr id="3" name="Screenshot frame"/>
          <p:cNvSpPr/>
          <p:nvPr/>
        </p:nvSpPr>
        <p:spPr>
          <a:xfrm flipH="1" flipV="1">
            <a:off x="843664" y="4523692"/>
            <a:ext cx="253616" cy="180292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9050">
            <a:solidFill>
              <a:schemeClr val="accent4"/>
            </a:solidFill>
            <a:prstDash val="dash"/>
          </a:ln>
        </p:spPr>
      </p:sp>
      <p:sp>
        <p:nvSpPr>
          <p:cNvPr id="4" name="Window dot"/>
          <p:cNvSpPr/>
          <p:nvPr/>
        </p:nvSpPr>
        <p:spPr>
          <a:xfrm>
            <a:off x="1280160" y="1325880"/>
            <a:ext cx="128016" cy="12801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Window dot"/>
          <p:cNvSpPr/>
          <p:nvPr/>
        </p:nvSpPr>
        <p:spPr>
          <a:xfrm>
            <a:off x="1508760" y="1325880"/>
            <a:ext cx="128016" cy="12801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Window dot"/>
          <p:cNvSpPr/>
          <p:nvPr/>
        </p:nvSpPr>
        <p:spPr>
          <a:xfrm>
            <a:off x="1737360" y="1325880"/>
            <a:ext cx="128016" cy="12801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77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Insert Reports page screenshot here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ECC3AC-D91A-782D-67DB-92045625E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24" y="622760"/>
            <a:ext cx="8842076" cy="414598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Future Enhancements</a:t>
            </a:r>
            <a:endParaRPr lang="en-US" sz="3000" dirty="0"/>
          </a:p>
        </p:txBody>
      </p:sp>
      <p:pic>
        <p:nvPicPr>
          <p:cNvPr id="3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058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Quotation comparison and approval workflow</a:t>
            </a:r>
            <a:endParaRPr lang="en-US" sz="1400" dirty="0"/>
          </a:p>
        </p:txBody>
      </p:sp>
      <p:pic>
        <p:nvPicPr>
          <p:cNvPr id="5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292608" cy="29260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120640" y="1280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Email/SMS alerts for requests and orders</a:t>
            </a:r>
            <a:endParaRPr lang="en-US" sz="1400" dirty="0"/>
          </a:p>
        </p:txBody>
      </p:sp>
      <p:pic>
        <p:nvPicPr>
          <p:cNvPr id="7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8840"/>
            <a:ext cx="292608" cy="29260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0584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Vendor performance ratings and categories</a:t>
            </a:r>
            <a:endParaRPr lang="en-US" sz="1400" dirty="0"/>
          </a:p>
        </p:txBody>
      </p:sp>
      <p:pic>
        <p:nvPicPr>
          <p:cNvPr id="9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148840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120640" y="2103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and invoice tracking</a:t>
            </a:r>
            <a:endParaRPr lang="en-US" sz="1400" dirty="0"/>
          </a:p>
        </p:txBody>
      </p:sp>
      <p:pic>
        <p:nvPicPr>
          <p:cNvPr id="11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71800"/>
            <a:ext cx="292608" cy="292608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00584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Search, filter and pagination on all lists</a:t>
            </a:r>
            <a:endParaRPr lang="en-US" sz="1400" dirty="0"/>
          </a:p>
        </p:txBody>
      </p:sp>
      <p:pic>
        <p:nvPicPr>
          <p:cNvPr id="13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971800"/>
            <a:ext cx="292608" cy="292608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120640" y="29260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Export reports to PDF and Excel</a:t>
            </a:r>
            <a:endParaRPr lang="en-US" sz="1400" dirty="0"/>
          </a:p>
        </p:txBody>
      </p:sp>
      <p:pic>
        <p:nvPicPr>
          <p:cNvPr id="15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94760"/>
            <a:ext cx="292608" cy="292608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00584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Audit logs of user actions</a:t>
            </a:r>
            <a:endParaRPr lang="en-US" sz="1400" dirty="0"/>
          </a:p>
        </p:txBody>
      </p:sp>
      <p:pic>
        <p:nvPicPr>
          <p:cNvPr id="17" name="Check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794760"/>
            <a:ext cx="292608" cy="29260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5120640" y="37490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Docker deployment for backend and MySQL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drop circle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Vendor &amp; Supplier Management System shows how a React.js frontend, Java Spring Boot REST APIs and a MySQL database work together in a practical application — covering role-based security, CRUD operations and the request-to-order workflow.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ndor Teal">
  <a:themeElements>
    <a:clrScheme name="Vendor Teal">
      <a:dk1>
        <a:srgbClr val="10242B"/>
      </a:dk1>
      <a:lt1>
        <a:srgbClr val="FFFFFF"/>
      </a:lt1>
      <a:dk2>
        <a:srgbClr val="0B3C49"/>
      </a:dk2>
      <a:lt2>
        <a:srgbClr val="EEF4F4"/>
      </a:lt2>
      <a:accent1>
        <a:srgbClr val="0E7C86"/>
      </a:accent1>
      <a:accent2>
        <a:srgbClr val="F2A541"/>
      </a:accent2>
      <a:accent3>
        <a:srgbClr val="1B5E6B"/>
      </a:accent3>
      <a:accent4>
        <a:srgbClr val="8CC7CC"/>
      </a:accent4>
      <a:accent5>
        <a:srgbClr val="E4572E"/>
      </a:accent5>
      <a:accent6>
        <a:srgbClr val="587277"/>
      </a:accent6>
      <a:hlink>
        <a:srgbClr val="0E7C86"/>
      </a:hlink>
      <a:folHlink>
        <a:srgbClr val="587277"/>
      </a:folHlink>
    </a:clrScheme>
    <a:fontScheme name="Vendor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Vendor Teal</vt:lpstr>
      <vt:lpstr>PowerPoint Presentation</vt:lpstr>
      <vt:lpstr>Introduction</vt:lpstr>
      <vt:lpstr>Objectives</vt:lpstr>
      <vt:lpstr>Technologies Used</vt:lpstr>
      <vt:lpstr>Modules</vt:lpstr>
      <vt:lpstr>Application Flow</vt:lpstr>
      <vt:lpstr>Project Structure</vt:lpstr>
      <vt:lpstr>Login Page</vt:lpstr>
      <vt:lpstr>Admin Dashboard Page</vt:lpstr>
      <vt:lpstr>User Dashboard Page</vt:lpstr>
      <vt:lpstr>Vendors Page</vt:lpstr>
      <vt:lpstr>Suppliers Page</vt:lpstr>
      <vt:lpstr>Products Page</vt:lpstr>
      <vt:lpstr>Purchase Requests Page</vt:lpstr>
      <vt:lpstr>Quotations Page</vt:lpstr>
      <vt:lpstr>Purchase Orders Page</vt:lpstr>
      <vt:lpstr>Reports Page</vt:lpstr>
      <vt:lpstr>Future Enhancements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73</cp:revision>
  <dcterms:created xsi:type="dcterms:W3CDTF">2026-10-07T04:44:17Z</dcterms:created>
  <dcterms:modified xsi:type="dcterms:W3CDTF">2026-10-07T05:11:16Z</dcterms:modified>
</cp:coreProperties>
</file>